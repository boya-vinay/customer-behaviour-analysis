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9" r:id="rId10"/>
    <p:sldId id="264" r:id="rId11"/>
    <p:sldId id="261" r:id="rId12"/>
    <p:sldId id="265" r:id="rId13"/>
    <p:sldId id="268" r:id="rId14"/>
    <p:sldId id="266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9;p2"/>
          <p:cNvCxnSpPr/>
          <p:nvPr/>
        </p:nvCxnSpPr>
        <p:spPr>
          <a:xfrm>
            <a:off x="0" y="152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228600" y="612720"/>
            <a:ext cx="8686080" cy="430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48200" y="795240"/>
            <a:ext cx="4736520" cy="394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2560320"/>
            <a:ext cx="256932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763880" y="3372480"/>
            <a:ext cx="347040" cy="41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763880" y="4202640"/>
            <a:ext cx="347040" cy="41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4763880" y="2541960"/>
            <a:ext cx="347040" cy="41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763880" y="228600"/>
            <a:ext cx="3712320" cy="20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6072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913560" y="228600"/>
            <a:ext cx="5001480" cy="98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913560" y="1267920"/>
            <a:ext cx="5001480" cy="364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28600" y="228600"/>
            <a:ext cx="3346920" cy="469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64240" y="2622240"/>
            <a:ext cx="347040" cy="42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4764240" y="1437840"/>
            <a:ext cx="347040" cy="42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4764240" y="3806640"/>
            <a:ext cx="347040" cy="42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title"/>
          </p:nvPr>
        </p:nvSpPr>
        <p:spPr>
          <a:xfrm>
            <a:off x="228600" y="2972880"/>
            <a:ext cx="3940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228600" y="228600"/>
            <a:ext cx="3712320" cy="20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2742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99;p20"/>
          <p:cNvCxnSpPr/>
          <p:nvPr/>
        </p:nvCxnSpPr>
        <p:spPr>
          <a:xfrm>
            <a:off x="0" y="152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229320" y="612720"/>
            <a:ext cx="8686080" cy="430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447840" y="3865680"/>
            <a:ext cx="3224520" cy="876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5470920" y="3865680"/>
            <a:ext cx="3224520" cy="876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14;p3"/>
          <p:cNvCxnSpPr/>
          <p:nvPr/>
        </p:nvCxnSpPr>
        <p:spPr>
          <a:xfrm>
            <a:off x="0" y="152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228960" y="612720"/>
            <a:ext cx="8686080" cy="430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104840" y="3266640"/>
            <a:ext cx="4582800" cy="1382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448200" y="3266640"/>
            <a:ext cx="656280" cy="799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106;p21"/>
          <p:cNvCxnSpPr/>
          <p:nvPr/>
        </p:nvCxnSpPr>
        <p:spPr>
          <a:xfrm>
            <a:off x="0" y="152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48200" y="2575440"/>
            <a:ext cx="381384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109;p21"/>
          <p:cNvSpPr/>
          <p:nvPr/>
        </p:nvSpPr>
        <p:spPr>
          <a:xfrm>
            <a:off x="6048360" y="612720"/>
            <a:ext cx="286668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3163680" y="228600"/>
            <a:ext cx="5751360" cy="36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274284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55680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228600" y="2884680"/>
            <a:ext cx="3712320" cy="202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8600" y="2049480"/>
            <a:ext cx="3940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913560" y="228600"/>
            <a:ext cx="5001480" cy="98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913560" y="3016440"/>
            <a:ext cx="5001480" cy="189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228600" y="228600"/>
            <a:ext cx="3346920" cy="469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658320" cy="33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17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20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27;p28"/>
          <p:cNvPicPr/>
          <p:nvPr/>
        </p:nvPicPr>
        <p:blipFill>
          <a:blip r:embed="rId2"/>
          <a:srcRect t="5766" b="5766"/>
          <a:stretch/>
        </p:blipFill>
        <p:spPr>
          <a:xfrm>
            <a:off x="228600" y="612720"/>
            <a:ext cx="8686080" cy="430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47840" y="790560"/>
            <a:ext cx="4733640" cy="3943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Client Dashboard</a:t>
            </a:r>
            <a:endParaRPr lang="fr-FR" sz="7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228600" y="247680"/>
            <a:ext cx="868644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Data-Driven Business Insights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62;p31"/>
          <p:cNvPicPr/>
          <p:nvPr/>
        </p:nvPicPr>
        <p:blipFill>
          <a:blip r:embed="rId2"/>
          <a:srcRect t="3297" b="3297"/>
          <a:stretch/>
        </p:blipFill>
        <p:spPr>
          <a:xfrm>
            <a:off x="228600" y="228600"/>
            <a:ext cx="3346560" cy="46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914640" y="228600"/>
            <a:ext cx="500040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914640" y="1266840"/>
            <a:ext cx="5000400" cy="364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This presentation provides a clear view of the client’s key performance indicators and business insights. It is designed to help understand customer trends, sales performance, and strategic opportunities for growth through data-driven analysis.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Effective use of visuals and concise explanations enable informed decision-making to advance business goals.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755A8CD-EF2E-E243-6E75-37D5281ABBA7}"/>
              </a:ext>
            </a:extLst>
          </p:cNvPr>
          <p:cNvGrpSpPr/>
          <p:nvPr/>
        </p:nvGrpSpPr>
        <p:grpSpPr>
          <a:xfrm>
            <a:off x="5048100" y="-96744"/>
            <a:ext cx="3619080" cy="2381040"/>
            <a:chOff x="5048100" y="-96744"/>
            <a:chExt cx="3619080" cy="2381040"/>
          </a:xfrm>
        </p:grpSpPr>
        <p:sp>
          <p:nvSpPr>
            <p:cNvPr id="56" name="Rectangle 55"/>
            <p:cNvSpPr/>
            <p:nvPr/>
          </p:nvSpPr>
          <p:spPr>
            <a:xfrm>
              <a:off x="5048100" y="-96744"/>
              <a:ext cx="2285640" cy="95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sp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5000" b="1" u="none" strike="noStrike" dirty="0">
                  <a:solidFill>
                    <a:schemeClr val="dk1"/>
                  </a:solidFill>
                  <a:effectLst/>
                  <a:uFillTx/>
                  <a:latin typeface="Calibri"/>
                </a:rPr>
                <a:t>01</a:t>
              </a:r>
              <a:endParaRPr lang="en-US" sz="5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048100" y="855816"/>
              <a:ext cx="3619080" cy="142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t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4000" b="0" u="none" strike="noStrike" dirty="0">
                  <a:solidFill>
                    <a:schemeClr val="dk1"/>
                  </a:solidFill>
                  <a:effectLst/>
                  <a:uFillTx/>
                  <a:latin typeface="Fjalla One"/>
                </a:rPr>
                <a:t>Dashboard Overview</a:t>
              </a:r>
              <a:endParaRPr lang="en-US" sz="40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8" name="image69a04e0c17568" descr="image69a04e0c1756d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DD0F06-B79B-63C2-08B6-503786A48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40" y="2193708"/>
            <a:ext cx="4572000" cy="2949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jalla One"/>
              </a:rPr>
              <a:t>Key Objectives &amp; Executive Summary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The primary objective is to analyze customer and sales data to identify patterns and opportunities.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Key insights include overall revenue trends, customer segmentation, and purchasing behavior</a:t>
            </a:r>
            <a:r>
              <a:rPr lang="en-US" sz="1200" dirty="0">
                <a:solidFill>
                  <a:schemeClr val="dk1"/>
                </a:solidFill>
                <a:latin typeface="Inter"/>
              </a:rPr>
              <a:t>, </a:t>
            </a:r>
            <a:r>
              <a:rPr lang="en-IN" sz="1200" dirty="0">
                <a:latin typeface="Inter"/>
              </a:rPr>
              <a:t>subscription impact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Inter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This summary equips stakeholders with a strategic snapshot for informed business actions.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1" name="image69a04e0c273e4" descr="image69a04e0c273e8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jalla One"/>
              </a:rPr>
              <a:t>KPI Metrics and Visual Cards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60774" y="2241318"/>
            <a:ext cx="8309050" cy="27939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Inter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Core KPIs include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Total Revenue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,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Total Customers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,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Total Orders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, and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Average Order Value,</a:t>
            </a:r>
            <a:r>
              <a:rPr lang="en-US" sz="1500" b="1" dirty="0">
                <a:solidFill>
                  <a:schemeClr val="dk1"/>
                </a:solidFill>
                <a:latin typeface="Inter"/>
              </a:rPr>
              <a:t> Average Review rating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.</a:t>
            </a:r>
            <a:endParaRPr lang="en-US" sz="1500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Visual dashboard cards succinctly display these metrics to track business health at a glance.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The layout emphasizes clarity and quick comprehension for effective monitoring and reporting.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500" dirty="0">
              <a:solidFill>
                <a:schemeClr val="dk1"/>
              </a:solidFill>
              <a:latin typeface="Inter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latin typeface="Inter"/>
              </a:rPr>
              <a:t>Dataset Size: 3,900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latin typeface="Inter"/>
              </a:rPr>
              <a:t>Customers Average Purchase Amount: $59.76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latin typeface="Inter"/>
              </a:rPr>
              <a:t>Average Review Rating: 3.75 / 5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FF1992-07C7-1403-EE94-3218B425C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4" y="1092282"/>
            <a:ext cx="8622092" cy="1149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jalla One"/>
              </a:rPr>
              <a:t>Customer Analysis &amp; Business Strategy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8" name="image69a04e0c373d0" descr="image69a04e0c373d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476280" y="256824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jalla One"/>
              </a:rPr>
              <a:t>Customer Segmentation and Regional Performance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5344" y="1209024"/>
            <a:ext cx="5157216" cy="38262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Customer segmentation reveals distinct groups based on purchase behavior and demographics, enabling tailored marketing strategies. </a:t>
            </a:r>
            <a:endParaRPr lang="en-US" sz="1400" dirty="0">
              <a:solidFill>
                <a:srgbClr val="000000"/>
              </a:solidFill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Revenue Contribution by Age Group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Age Group            Revenue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Young Adult         $62,143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Middle Aged       $59,197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Adult                    $55,978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Senior                  $55,763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</a:rPr>
              <a:t>Visual tools such as pie charts and bar graphs are instrumental in understanding segment contributions and geographic distribution.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1" name="image69a04e0c46bd1" descr="image69a04e0c46bd5"/>
          <p:cNvPicPr/>
          <p:nvPr/>
        </p:nvPicPr>
        <p:blipFill>
          <a:blip r:embed="rId2"/>
          <a:stretch/>
        </p:blipFill>
        <p:spPr>
          <a:xfrm>
            <a:off x="5340096" y="0"/>
            <a:ext cx="3803544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3E86-C82B-ABD5-0EFC-5334E686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53F0522E-D5AB-69E5-77AC-7A960B665BB8}"/>
              </a:ext>
            </a:extLst>
          </p:cNvPr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380ADC0-18D5-5597-1012-8B85015D28B8}"/>
              </a:ext>
            </a:extLst>
          </p:cNvPr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1" name="image69a04e0c46bd1" descr="image69a04e0c46bd5">
            <a:extLst>
              <a:ext uri="{FF2B5EF4-FFF2-40B4-BE49-F238E27FC236}">
                <a16:creationId xmlns:a16="http://schemas.microsoft.com/office/drawing/2014/main" id="{446FF506-6C2F-6009-6DBD-9F125D50788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B18120-E4E6-9954-1C62-F97B7C468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951163"/>
              </p:ext>
            </p:extLst>
          </p:nvPr>
        </p:nvGraphicFramePr>
        <p:xfrm>
          <a:off x="104172" y="1355519"/>
          <a:ext cx="3702360" cy="1795972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851180">
                  <a:extLst>
                    <a:ext uri="{9D8B030D-6E8A-4147-A177-3AD203B41FA5}">
                      <a16:colId xmlns:a16="http://schemas.microsoft.com/office/drawing/2014/main" val="2740831405"/>
                    </a:ext>
                  </a:extLst>
                </a:gridCol>
                <a:gridCol w="1851180">
                  <a:extLst>
                    <a:ext uri="{9D8B030D-6E8A-4147-A177-3AD203B41FA5}">
                      <a16:colId xmlns:a16="http://schemas.microsoft.com/office/drawing/2014/main" val="2278886891"/>
                    </a:ext>
                  </a:extLst>
                </a:gridCol>
              </a:tblGrid>
              <a:tr h="18177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Segment</a:t>
                      </a:r>
                      <a:endParaRPr lang="en-I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Customers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99164132"/>
                  </a:ext>
                </a:extLst>
              </a:tr>
              <a:tr h="36341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Loyal</a:t>
                      </a: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3,116</a:t>
                      </a: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9376464"/>
                  </a:ext>
                </a:extLst>
              </a:tr>
              <a:tr h="406835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Returning</a:t>
                      </a: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701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0435839"/>
                  </a:ext>
                </a:extLst>
              </a:tr>
              <a:tr h="70361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New</a:t>
                      </a: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83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US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IN" sz="1400" dirty="0">
                        <a:effectLst/>
                        <a:latin typeface="Segoe UI Semibold" panose="020B0702040204020203" pitchFamily="34" charset="0"/>
                        <a:ea typeface="Aptos" panose="020B000402020202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639164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646A2E9-3E57-6148-A77C-466C626E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794"/>
            <a:ext cx="4571640" cy="11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4761"/>
                </a:solidFill>
                <a:effectLst/>
                <a:latin typeface="Fjalla One" panose="0200050604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Segmentation by Purchase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7C90B-3013-4229-ABCF-E5F2CBA3E383}"/>
              </a:ext>
            </a:extLst>
          </p:cNvPr>
          <p:cNvSpPr txBox="1"/>
          <p:nvPr/>
        </p:nvSpPr>
        <p:spPr>
          <a:xfrm>
            <a:off x="104172" y="3409817"/>
            <a:ext cx="462408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ea typeface="Aptos" panose="020B0004020202020204" pitchFamily="34" charset="0"/>
                <a:cs typeface="Segoe UI Semibold" panose="020B0702040204020203" pitchFamily="34" charset="0"/>
              </a:rPr>
              <a:t>Insights: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ea typeface="Aptos" panose="020B0004020202020204" pitchFamily="34" charset="0"/>
                <a:cs typeface="Segoe UI Semibold" panose="020B0702040204020203" pitchFamily="34" charset="0"/>
              </a:rPr>
              <a:t> - Majority of customers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ea typeface="Aptos" panose="020B0004020202020204" pitchFamily="34" charset="0"/>
                <a:cs typeface="Segoe UI Semibold" panose="020B0702040204020203" pitchFamily="34" charset="0"/>
              </a:rPr>
              <a:t>Loyal buyers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ea typeface="Aptos" panose="020B0004020202020204" pitchFamily="34" charset="0"/>
                <a:cs typeface="Segoe UI Semibold" panose="020B0702040204020203" pitchFamily="34" charset="0"/>
              </a:rPr>
              <a:t>. - New customer acquisition is relatively low.</a:t>
            </a:r>
            <a:endParaRPr lang="en-US" alt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• 80%+ customers are Loyal buyers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• Very low number of new customers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7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476100" y="254808"/>
            <a:ext cx="8191080" cy="549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jalla One"/>
              </a:rPr>
              <a:t>Customer Behavior and Purchase Patterns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4984" y="804672"/>
            <a:ext cx="4487016" cy="42428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Clothing is the highest revenue-generating category.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Young Adults generate the most revenue.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Non-subscribers generate higher total revenue than subscribers.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Express shipping customers spend slightly more on average.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Majority of customers are Loyal buyers.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Discount usage is highest in Hat and Sneakers products.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Subscription      Customers       Avg Spent       Total Revenue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Yes                    1,053               $59.49             $62,645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No                      2,847              $59.87             $170,436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Non-subscribers generate almost 3× more total revenue.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• Average spending difference is minimal.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D23C-0ADB-F397-2AB8-E628FB141141}"/>
              </a:ext>
            </a:extLst>
          </p:cNvPr>
          <p:cNvSpPr txBox="1"/>
          <p:nvPr/>
        </p:nvSpPr>
        <p:spPr>
          <a:xfrm>
            <a:off x="4572000" y="804672"/>
            <a:ext cx="44870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Intern"/>
              </a:rPr>
              <a:t>Repeat Buyers &amp; Subscription Behavior Customers with more than 5 previous purchases: </a:t>
            </a:r>
          </a:p>
          <a:p>
            <a:endParaRPr lang="en-US" sz="1400" dirty="0">
              <a:latin typeface="Intern"/>
            </a:endParaRPr>
          </a:p>
          <a:p>
            <a:r>
              <a:rPr lang="en-US" sz="1400" dirty="0">
                <a:latin typeface="Intern"/>
              </a:rPr>
              <a:t>Subscription                Repeat Buyers </a:t>
            </a:r>
          </a:p>
          <a:p>
            <a:r>
              <a:rPr lang="en-US" sz="1400" dirty="0">
                <a:latin typeface="Intern"/>
              </a:rPr>
              <a:t>No                                   2,518 </a:t>
            </a:r>
          </a:p>
          <a:p>
            <a:r>
              <a:rPr lang="en-US" sz="1400" dirty="0">
                <a:latin typeface="Intern"/>
              </a:rPr>
              <a:t>Yes                                  958 </a:t>
            </a:r>
          </a:p>
          <a:p>
            <a:endParaRPr lang="en-US" sz="1400" dirty="0">
              <a:latin typeface="Intern"/>
            </a:endParaRPr>
          </a:p>
          <a:p>
            <a:r>
              <a:rPr lang="en-US" sz="1400" dirty="0">
                <a:latin typeface="Intern"/>
              </a:rPr>
              <a:t>Insight: Repeat buyers are mostly non-subscribers. </a:t>
            </a:r>
            <a:endParaRPr lang="en-IN" sz="1400" dirty="0">
              <a:latin typeface="Intern"/>
            </a:endParaRPr>
          </a:p>
          <a:p>
            <a:endParaRPr lang="en-IN" sz="1400" dirty="0">
              <a:latin typeface="Intern"/>
            </a:endParaRPr>
          </a:p>
          <a:p>
            <a:r>
              <a:rPr lang="en-US" sz="1400" dirty="0">
                <a:latin typeface="Intern"/>
              </a:rPr>
              <a:t>Discount Usage – Top 5 Products Product % Purchases with Discount </a:t>
            </a:r>
          </a:p>
          <a:p>
            <a:endParaRPr lang="en-US" sz="1400" dirty="0">
              <a:latin typeface="Intern"/>
            </a:endParaRPr>
          </a:p>
          <a:p>
            <a:r>
              <a:rPr lang="en-US" sz="1400" dirty="0">
                <a:latin typeface="Intern"/>
              </a:rPr>
              <a:t>Hat                            50.00% </a:t>
            </a:r>
          </a:p>
          <a:p>
            <a:r>
              <a:rPr lang="en-US" sz="1400" dirty="0">
                <a:latin typeface="Intern"/>
              </a:rPr>
              <a:t>Sneakers                  49.66% </a:t>
            </a:r>
          </a:p>
          <a:p>
            <a:r>
              <a:rPr lang="en-US" sz="1400" dirty="0">
                <a:latin typeface="Intern"/>
              </a:rPr>
              <a:t>Coat                          49.07% </a:t>
            </a:r>
          </a:p>
          <a:p>
            <a:r>
              <a:rPr lang="en-US" sz="1400" dirty="0">
                <a:latin typeface="Intern"/>
              </a:rPr>
              <a:t>Sweater                   48.17% </a:t>
            </a:r>
          </a:p>
          <a:p>
            <a:r>
              <a:rPr lang="en-US" sz="1400" dirty="0">
                <a:latin typeface="Intern"/>
              </a:rPr>
              <a:t>Pants                        47.37% </a:t>
            </a:r>
          </a:p>
          <a:p>
            <a:endParaRPr lang="en-US" sz="1400" dirty="0">
              <a:latin typeface="Intern"/>
            </a:endParaRPr>
          </a:p>
          <a:p>
            <a:r>
              <a:rPr lang="en-US" sz="1400" dirty="0">
                <a:latin typeface="Intern"/>
              </a:rPr>
              <a:t>Insight: Almost 50% of purchases in these products depend on discounts.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78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  <a:t>High-level Insights and Recommendations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228600" y="923400"/>
            <a:ext cx="8793480" cy="40997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The analysis reveals steady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revenue growth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with fluctuating customer acquisition rates. Sales trends indicate seasonal peaks, highlighting opportunities for targeted marketing.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Key insights emphasize the importance of focusing on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high-value customers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and improving retention rates. Strategic recommendations include enhancing customer segmentation and leveraging data to optimize product offerings.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These data-driven findings support informed decision-making to propel business growth.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Inter"/>
            </a:endParaRPr>
          </a:p>
          <a:p>
            <a:r>
              <a:rPr lang="en-US" sz="1400" b="1" dirty="0">
                <a:latin typeface="Inter"/>
              </a:rPr>
              <a:t>Key Strategic Recommendations</a:t>
            </a:r>
          </a:p>
          <a:p>
            <a:endParaRPr lang="en-IN" sz="1400" b="1" dirty="0">
              <a:latin typeface="Inter"/>
            </a:endParaRPr>
          </a:p>
          <a:p>
            <a:pPr lvl="0"/>
            <a:r>
              <a:rPr lang="en-US" sz="1400" dirty="0">
                <a:latin typeface="Inter"/>
              </a:rPr>
              <a:t>  1. Convert repeat buyers into subscribers.</a:t>
            </a:r>
            <a:endParaRPr lang="en-IN" sz="1400" dirty="0">
              <a:latin typeface="Inter"/>
            </a:endParaRPr>
          </a:p>
          <a:p>
            <a:pPr lvl="0"/>
            <a:r>
              <a:rPr lang="en-US" sz="1400" dirty="0">
                <a:latin typeface="Inter"/>
              </a:rPr>
              <a:t>  2. Leverage high‑rated products for brand positioning.</a:t>
            </a:r>
            <a:endParaRPr lang="en-IN" sz="1400" dirty="0">
              <a:latin typeface="Inter"/>
            </a:endParaRPr>
          </a:p>
          <a:p>
            <a:pPr lvl="0"/>
            <a:r>
              <a:rPr lang="en-US" sz="1400" dirty="0">
                <a:latin typeface="Inter"/>
              </a:rPr>
              <a:t>  3. Use discounts selectively for price‑sensitive products.</a:t>
            </a:r>
            <a:endParaRPr lang="en-IN" sz="1400" dirty="0">
              <a:latin typeface="Inter"/>
            </a:endParaRPr>
          </a:p>
          <a:p>
            <a:pPr lvl="0"/>
            <a:r>
              <a:rPr lang="en-US" sz="1400" dirty="0">
                <a:latin typeface="Inter"/>
              </a:rPr>
              <a:t>  4.Strengthen new customer acquisition.</a:t>
            </a:r>
            <a:endParaRPr lang="en-IN" sz="1400" dirty="0">
              <a:latin typeface="Inter"/>
            </a:endParaRPr>
          </a:p>
          <a:p>
            <a:pPr lvl="0"/>
            <a:r>
              <a:rPr lang="en-US" sz="1400" dirty="0">
                <a:latin typeface="Inter"/>
              </a:rPr>
              <a:t>  5. Promote Express shipping for premium orders.</a:t>
            </a:r>
            <a:endParaRPr lang="en-IN" sz="1400" dirty="0">
              <a:latin typeface="Inter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78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  <a:t>Strategic Recommendations and Business Opportunities</a:t>
            </a:r>
            <a:b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</a:br>
            <a:b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</a:b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228600" y="1308048"/>
            <a:ext cx="8457840" cy="373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Inter"/>
              <a:ea typeface="Inter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Focus on enhancing digital marketing to capitalize on growth areas. </a:t>
            </a:r>
            <a:endParaRPr lang="en-US" sz="1400" dirty="0">
              <a:solidFill>
                <a:schemeClr val="dk1"/>
              </a:solidFill>
              <a:latin typeface="Inter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400" dirty="0">
                <a:latin typeface="Inter"/>
              </a:rPr>
              <a:t>Promote  Express Shipping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Target High Revenue Segment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 • Focus on Young Adults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Inter"/>
              </a:rPr>
              <a:t> • Promote Clothing category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Develop targeted campaigns for high-value segments and under-penetrated regions.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Invest in retention programs and improve customer experience through data insights. Identifying emerging product demand offers potential for portfolio expansion and revenue increase.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A60E-C575-AFF6-B28A-8D3E7FB1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>
            <a:extLst>
              <a:ext uri="{FF2B5EF4-FFF2-40B4-BE49-F238E27FC236}">
                <a16:creationId xmlns:a16="http://schemas.microsoft.com/office/drawing/2014/main" id="{BB9BB42A-E140-8221-AF0C-4DBF771B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45784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dirty="0">
                <a:latin typeface="Fjalla One" panose="02000506040000020004" pitchFamily="2" charset="0"/>
              </a:rPr>
              <a:t>Overall Business Health: GOOD with Growth Opportunities 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Fjalla One" panose="02000506040000020004" pitchFamily="2" charset="0"/>
            </a:endParaRPr>
          </a:p>
        </p:txBody>
      </p:sp>
      <p:sp>
        <p:nvSpPr>
          <p:cNvPr id="75" name="PlaceHolder 2">
            <a:extLst>
              <a:ext uri="{FF2B5EF4-FFF2-40B4-BE49-F238E27FC236}">
                <a16:creationId xmlns:a16="http://schemas.microsoft.com/office/drawing/2014/main" id="{9C9B39D6-048E-F3AA-A05E-6F89A2154C7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600" y="1308048"/>
            <a:ext cx="8457840" cy="373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/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If optimized strategically, revenue can increase by improving: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• Subscription engagement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• Young Adult targeting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• Discount personalization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• New customer acquisition campaigns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32383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62;p31"/>
          <p:cNvPicPr/>
          <p:nvPr/>
        </p:nvPicPr>
        <p:blipFill>
          <a:blip r:embed="rId2"/>
          <a:srcRect t="3297" b="3297"/>
          <a:stretch/>
        </p:blipFill>
        <p:spPr>
          <a:xfrm>
            <a:off x="228600" y="228600"/>
            <a:ext cx="3346560" cy="46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803904" y="106680"/>
            <a:ext cx="5111136" cy="5882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jalla One"/>
                <a:ea typeface="Fjalla One"/>
              </a:rPr>
              <a:t>Conclusions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803904" y="694944"/>
            <a:ext cx="5340096" cy="43418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The comprehensive dashboard analysis provides actionable insights into customer behavior and sales trends. </a:t>
            </a:r>
            <a:endParaRPr lang="fr-FR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Focusing on key metrics and customer segmentation offers a clear path for strategic initiatives. </a:t>
            </a:r>
            <a:endParaRPr lang="fr-FR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These findings empower stakeholders to make informed decisions aimed at sustainable business growth and improved market positioning.</a:t>
            </a:r>
            <a:b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</a:br>
            <a:endParaRPr lang="en-US" sz="1300" b="0" u="none" strike="noStrike" dirty="0">
              <a:solidFill>
                <a:schemeClr val="dk1"/>
              </a:solidFill>
              <a:effectLst/>
              <a:uFillTx/>
              <a:latin typeface="Intern"/>
              <a:ea typeface="Inter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latin typeface="Intern"/>
              </a:rPr>
              <a:t>✔ Strong loyal customer base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latin typeface="Intern"/>
              </a:rPr>
              <a:t>✔ High-performing clothing category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latin typeface="Intern"/>
              </a:rPr>
              <a:t>✔ Stable average purchase value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latin typeface="Intern"/>
              </a:rPr>
              <a:t>✔ Effective discount-driven purchases </a:t>
            </a:r>
            <a:endParaRPr lang="fr-FR" sz="1300" b="0" u="none" strike="noStrike" dirty="0">
              <a:solidFill>
                <a:srgbClr val="000000"/>
              </a:solidFill>
              <a:effectLst/>
              <a:uFillTx/>
              <a:latin typeface="Inter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65000"/>
              </a:schemeClr>
            </a:gs>
            <a:gs pos="35000">
              <a:schemeClr val="accent1">
                <a:lumMod val="65000"/>
              </a:schemeClr>
            </a:gs>
            <a:gs pos="100000">
              <a:schemeClr val="accent1"/>
            </a:gs>
            <a:gs pos="74000">
              <a:schemeClr val="accent4">
                <a:lumMod val="6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42AD2-83EA-CF5C-A13E-15CB0D76A579}"/>
              </a:ext>
            </a:extLst>
          </p:cNvPr>
          <p:cNvSpPr txBox="1"/>
          <p:nvPr/>
        </p:nvSpPr>
        <p:spPr>
          <a:xfrm>
            <a:off x="368547" y="3047819"/>
            <a:ext cx="4170556" cy="92333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Fjalla One" panose="02000506040000020004" pitchFamily="2" charset="0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6B1DF-CAAE-607B-1415-62632AAB688C}"/>
              </a:ext>
            </a:extLst>
          </p:cNvPr>
          <p:cNvSpPr/>
          <p:nvPr/>
        </p:nvSpPr>
        <p:spPr>
          <a:xfrm>
            <a:off x="368547" y="3033415"/>
            <a:ext cx="3098926" cy="923330"/>
          </a:xfrm>
          <a:prstGeom prst="rect">
            <a:avLst/>
          </a:prstGeom>
          <a:noFill/>
          <a:effectLst>
            <a:glow rad="63500">
              <a:schemeClr val="bg1">
                <a:lumMod val="95000"/>
                <a:alpha val="40000"/>
              </a:schemeClr>
            </a:glow>
            <a:innerShdw blurRad="114300">
              <a:prstClr val="black"/>
            </a:innerShdw>
            <a:reflection stA="50000" endA="300" endPos="24000" dist="50800" dir="5400000" sy="-100000" algn="bl" rotWithShape="0"/>
            <a:softEdge rad="152400"/>
          </a:effectLst>
          <a:scene3d>
            <a:camera prst="obliqueTopLeft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Fjalla One" panose="02000506040000020004" pitchFamily="2" charset="0"/>
              </a:rPr>
              <a:t>THANK YOU</a:t>
            </a:r>
            <a:endParaRPr lang="en-IN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6472504"/>
      </p:ext>
    </p:extLst>
  </p:cSld>
  <p:clrMapOvr>
    <a:masterClrMapping/>
  </p:clrMapOvr>
</p:sld>
</file>

<file path=ppt/theme/theme1.xml><?xml version="1.0" encoding="utf-8"?>
<a:theme xmlns:a="http://schemas.openxmlformats.org/drawingml/2006/main" name="Online Newspaper by Slidesgo">
  <a:themeElements>
    <a:clrScheme name="Simple Light">
      <a:dk1>
        <a:srgbClr val="000000"/>
      </a:dk1>
      <a:lt1>
        <a:srgbClr val="FFFFFF"/>
      </a:lt1>
      <a:dk2>
        <a:srgbClr val="E41F1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757</Words>
  <Application>Microsoft Office PowerPoint</Application>
  <PresentationFormat>On-screen Show (16:9)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Fjalla One</vt:lpstr>
      <vt:lpstr>Inter</vt:lpstr>
      <vt:lpstr>Intern</vt:lpstr>
      <vt:lpstr>OpenSymbol</vt:lpstr>
      <vt:lpstr>Segoe UI Semibold</vt:lpstr>
      <vt:lpstr>Symbol</vt:lpstr>
      <vt:lpstr>Wingdings</vt:lpstr>
      <vt:lpstr>Online Newspaper by Slidesgo</vt:lpstr>
      <vt:lpstr>Slidesgo Final Pages</vt:lpstr>
      <vt:lpstr>Client Dashboard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High-level Insights and Recommendations</vt:lpstr>
      <vt:lpstr>Strategic Recommendations and Business Opportunities  </vt:lpstr>
      <vt:lpstr>Overall Business Health: GOOD with Growth Opportunities 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boya</cp:lastModifiedBy>
  <cp:revision>3</cp:revision>
  <dcterms:modified xsi:type="dcterms:W3CDTF">2026-02-27T14:01:55Z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2026-02-26T13:43:32Z</dcterms:created>
  <dc:creator>Unknown Creator</dc:creator>
  <dc:description/>
  <dc:language>en-US</dc:language>
  <cp:lastModifiedBy>Unknown Creator</cp:lastModifiedBy>
  <dcterms:modified xsi:type="dcterms:W3CDTF">2026-02-26T13:43:32Z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